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00c623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00c623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00c6239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00c6239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00c6239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00c6239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00c6239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00c6239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00c6239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00c6239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00c6239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00c6239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0c6239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0c6239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00c6239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00c6239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00c6239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d00c6239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00c6239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d00c6239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00c623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d00c623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DBI banner deck 1.png"/>
          <p:cNvPicPr preferRelativeResize="0"/>
          <p:nvPr/>
        </p:nvPicPr>
        <p:blipFill rotWithShape="1">
          <a:blip r:embed="rId3">
            <a:alphaModFix/>
          </a:blip>
          <a:srcRect b="40681" l="0" r="0" t="0"/>
          <a:stretch/>
        </p:blipFill>
        <p:spPr>
          <a:xfrm>
            <a:off x="0" y="0"/>
            <a:ext cx="9144000" cy="3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6600" y="3260725"/>
            <a:ext cx="8760000" cy="16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046046"/>
                </a:solidFill>
                <a:latin typeface="Calibri"/>
              </a:rPr>
              <a:t>Team Details</a:t>
            </a:r>
            <a:endParaRPr b="1" sz="1500"/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586582"/>
                </a:solidFill>
                <a:latin typeface="Calibri"/>
              </a:rPr>
              <a:t>Team name: </a:t>
            </a:r>
            <a:r>
              <a:rPr sz="1800" b="1" i="0">
                <a:solidFill>
                  <a:srgbClr val="1B2233"/>
                </a:solidFill>
                <a:latin typeface="Calibri"/>
              </a:rPr>
              <a:t>Assassin</a:t>
            </a:r>
          </a:p>
          <a:p>
            <a:pPr algn="l">
              <a:spcBef>
                <a:spcPts val="600"/>
              </a:spcBef>
            </a:pPr>
            <a:r>
              <a:rPr sz="1800" b="1" i="0">
                <a:solidFill>
                  <a:srgbClr val="586582"/>
                </a:solidFill>
                <a:latin typeface="Calibri"/>
              </a:rPr>
              <a:t>Team leader name: </a:t>
            </a:r>
            <a:r>
              <a:rPr sz="1800" b="1" i="0">
                <a:solidFill>
                  <a:srgbClr val="1B2233"/>
                </a:solidFill>
                <a:latin typeface="Calibri"/>
              </a:rPr>
              <a:t>Arya Y P</a:t>
            </a:r>
          </a:p>
          <a:p>
            <a:pPr algn="l">
              <a:spcBef>
                <a:spcPts val="600"/>
              </a:spcBef>
            </a:pPr>
            <a:r>
              <a:rPr sz="1800" b="1" i="0">
                <a:solidFill>
                  <a:srgbClr val="586582"/>
                </a:solidFill>
                <a:latin typeface="Calibri"/>
              </a:rPr>
              <a:t>Problem Statement: </a:t>
            </a:r>
            <a:r>
              <a:rPr sz="1800" b="1" i="0">
                <a:solidFill>
                  <a:srgbClr val="1B2233"/>
                </a:solidFill>
                <a:latin typeface="Calibri"/>
              </a:rPr>
              <a:t>Financial Health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Brief about the idea</a:t>
            </a:r>
            <a:endParaRPr b="1"/>
          </a:p>
        </p:txBody>
      </p:sp>
      <p:pic>
        <p:nvPicPr>
          <p:cNvPr id="62" name="Google Shape;62;p1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274320" y="1463040"/>
            <a:ext cx="5120640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600" b="1" i="0">
                <a:solidFill>
                  <a:srgbClr val="1B2233"/>
                </a:solidFill>
                <a:latin typeface="Calibri"/>
              </a:rPr>
              <a:t>Underwrite the </a:t>
            </a:r>
            <a:r>
              <a:rPr sz="2600" b="1" i="0">
                <a:solidFill>
                  <a:srgbClr val="046046"/>
                </a:solidFill>
                <a:latin typeface="Calibri"/>
              </a:rPr>
              <a:t>credit-invisible </a:t>
            </a:r>
            <a:r>
              <a:rPr sz="2600" b="1" i="0">
                <a:solidFill>
                  <a:srgbClr val="1B2233"/>
                </a:solidFill>
                <a:latin typeface="Calibri"/>
              </a:rPr>
              <a:t>MSME.</a:t>
            </a:r>
          </a:p>
          <a:p>
            <a:pPr algn="l">
              <a:spcBef>
                <a:spcPts val="1200"/>
              </a:spcBef>
            </a:pPr>
            <a:r>
              <a:rPr sz="1300" b="0" i="0">
                <a:solidFill>
                  <a:srgbClr val="2B3448"/>
                </a:solidFill>
                <a:latin typeface="Calibri"/>
              </a:rPr>
              <a:t>An AI/ML-driven credit assessment platform that scores New-to-Credit and New-to-Bank MSMEs from consented alternate data — GST, Account Aggregator, EPFO and UPI — via an explainable, six-dimension health score with an ML second opinion.</a:t>
            </a:r>
          </a:p>
          <a:p>
            <a:pPr algn="l">
              <a:spcBef>
                <a:spcPts val="800"/>
              </a:spcBef>
            </a:pPr>
            <a:r>
              <a:rPr sz="1300" b="0" i="1">
                <a:solidFill>
                  <a:srgbClr val="586582"/>
                </a:solidFill>
                <a:latin typeface="Calibri"/>
              </a:rPr>
              <a:t>Built consent-first and ULI/OCEN-ready so every rail a real integration would use is already modelled.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577840" y="146304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E6F5EF"/>
          </a:solidFill>
          <a:ln w="9525">
            <a:solidFill>
              <a:srgbClr val="0E7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0" y="1600200"/>
            <a:ext cx="2926080" cy="3200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WHAT ONE CARD HOLDS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046046"/>
                </a:solidFill>
                <a:latin typeface="Consolas"/>
              </a:rPr>
              <a:t>GST  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24 months of returns · filing discipline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046046"/>
                </a:solidFill>
                <a:latin typeface="Consolas"/>
              </a:rPr>
              <a:t>AA   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12 months of bank txns · DSCR proxy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046046"/>
                </a:solidFill>
                <a:latin typeface="Consolas"/>
              </a:rPr>
              <a:t>EPFO 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Headcount trend · salary regularity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046046"/>
                </a:solidFill>
                <a:latin typeface="Consolas"/>
              </a:rPr>
              <a:t>UPI  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Volume · breadth · P2M share</a:t>
            </a:r>
          </a:p>
          <a:p>
            <a:pPr algn="l">
              <a:spcBef>
                <a:spcPts val="1400"/>
              </a:spcBef>
            </a:pPr>
            <a:r>
              <a:rPr sz="1000" b="0" i="1">
                <a:solidFill>
                  <a:srgbClr val="586582"/>
                </a:solidFill>
                <a:latin typeface="Calibri"/>
              </a:rPr>
              <a:t>→ Composite 0–1000 · Band A/B/C/D · Approve · Refer · Decline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65350" y="744575"/>
            <a:ext cx="89430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B2233"/>
                </a:solidFill>
                <a:latin typeface="Calibri"/>
              </a:rPr>
              <a:t>Opportunities</a:t>
            </a:r>
            <a:endParaRPr b="1"/>
          </a:p>
        </p:txBody>
      </p:sp>
      <p:pic>
        <p:nvPicPr>
          <p:cNvPr id="68" name="Google Shape;68;p1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Rounded Rectangle 69"/>
          <p:cNvSpPr/>
          <p:nvPr/>
        </p:nvSpPr>
        <p:spPr>
          <a:xfrm>
            <a:off x="274320" y="1463040"/>
            <a:ext cx="2743200" cy="3474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57200" y="1645920"/>
            <a:ext cx="320040" cy="320040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1627632"/>
            <a:ext cx="19202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B2233"/>
                </a:solidFill>
                <a:latin typeface="Calibri"/>
              </a:rPr>
              <a:t>How is it different?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2240280"/>
            <a:ext cx="2377440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046046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Bureau-independent by design — scores from live rails, not stale bureau files.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046046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Six explainable dimensions, not one opaque number.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046046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ML PD prediction runs alongside the rulebook as a second opinion, with per-feature counterfactual explanations.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200400" y="1463040"/>
            <a:ext cx="2743200" cy="3474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83280" y="1645920"/>
            <a:ext cx="320040" cy="320040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0480" y="1627632"/>
            <a:ext cx="19202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B2233"/>
                </a:solidFill>
                <a:latin typeface="Calibri"/>
              </a:rPr>
              <a:t>How does it solve the problem?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3280" y="2240280"/>
            <a:ext cx="2377440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046046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Aggregates GST + AA + EPFO + UPI into one normalised data pack via consented pulls.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046046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Every factor lands in a named dimension with a signed point contribution — the underwriter can defend every rupee sanctioned.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046046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Onboarding, decisioning and sanction happen in one flow — near real-time.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26480" y="1463040"/>
            <a:ext cx="2743200" cy="3474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309360" y="1645920"/>
            <a:ext cx="320040" cy="320040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66560" y="1627632"/>
            <a:ext cx="19202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1B2233"/>
                </a:solidFill>
                <a:latin typeface="Calibri"/>
              </a:rPr>
              <a:t>USP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9360" y="2240280"/>
            <a:ext cx="2377440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046046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NTC uplift: a 10-month-old startup with no bureau footprint scores Band A on cash-flow and compliance signals alone.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046046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Consent-first: every pull is registered, validated, revocable and audited.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046046"/>
                </a:solidFill>
                <a:latin typeface="Calibri"/>
              </a:rPr>
              <a:t>•  Before/after impact view quantifies the additional MSMEs served versus a bureau-only lender — with the approved book carrying a lower average PD (29% → 15%).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List of features offered by the solution</a:t>
            </a:r>
            <a:endParaRPr b="1"/>
          </a:p>
        </p:txBody>
      </p:sp>
      <p:pic>
        <p:nvPicPr>
          <p:cNvPr id="75" name="Google Shape;75;p1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Rounded Rectangle 76"/>
          <p:cNvSpPr/>
          <p:nvPr/>
        </p:nvSpPr>
        <p:spPr>
          <a:xfrm>
            <a:off x="274320" y="1463040"/>
            <a:ext cx="2773680" cy="106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84048" y="1572768"/>
            <a:ext cx="256032" cy="256032"/>
          </a:xfrm>
          <a:prstGeom prst="ellipse">
            <a:avLst/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46046"/>
                </a:solidFill>
                <a:latin typeface="Calibr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1554480"/>
            <a:ext cx="2225040" cy="883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6 scored dimensions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Revenue Health, Cash-Flow, Digital Vitality, Compliance, Employment, Obligation &amp; Leverage. Factor-decomposed with signed contributions and stable reason codes.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185160" y="1463040"/>
            <a:ext cx="2773680" cy="106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294888" y="1572768"/>
            <a:ext cx="256032" cy="256032"/>
          </a:xfrm>
          <a:prstGeom prst="ellipse">
            <a:avLst/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46046"/>
                </a:solidFill>
                <a:latin typeface="Calibri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42360" y="1554480"/>
            <a:ext cx="2225040" cy="883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ML second opinion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Calibrated, monotonic HistGB trained on the production feature pipeline. 12-month PD, counterfactual drivers, holdout AUC &amp; Brier, agreement flag.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096000" y="1463040"/>
            <a:ext cx="2773680" cy="106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205728" y="1572768"/>
            <a:ext cx="256032" cy="256032"/>
          </a:xfrm>
          <a:prstGeom prst="ellipse">
            <a:avLst/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46046"/>
                </a:solidFill>
                <a:latin typeface="Calibri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53200" y="1554480"/>
            <a:ext cx="2225040" cy="883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Consent-first pulls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AA-style grants validated on every fetch, revocable live. Unshared rails are never fetched. Grant + access audit logs.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74320" y="2667000"/>
            <a:ext cx="2773680" cy="106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" y="2776728"/>
            <a:ext cx="256032" cy="256032"/>
          </a:xfrm>
          <a:prstGeom prst="ellipse">
            <a:avLst/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46046"/>
                </a:solidFill>
                <a:latin typeface="Calibri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520" y="2758440"/>
            <a:ext cx="2225040" cy="883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Portfolio dashboard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30-MSME book: EWS badges, watch-list actions, concentration guardrails, vintage cohorts, ML-divergence queue, stress tests.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185160" y="2667000"/>
            <a:ext cx="2773680" cy="106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94888" y="2776728"/>
            <a:ext cx="256032" cy="256032"/>
          </a:xfrm>
          <a:prstGeom prst="ellipse">
            <a:avLst/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46046"/>
                </a:solidFill>
                <a:latin typeface="Calibri"/>
              </a:rPr>
              <a:t>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42360" y="2758440"/>
            <a:ext cx="2225040" cy="883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Before/after impact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Coverage, exposure and NTC/NTB inclusion vs a bureau-only lender — plus a computed PD comparison of the two approved books.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096000" y="2667000"/>
            <a:ext cx="2773680" cy="106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205728" y="2776728"/>
            <a:ext cx="256032" cy="256032"/>
          </a:xfrm>
          <a:prstGeom prst="ellipse">
            <a:avLst/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46046"/>
                </a:solidFill>
                <a:latin typeface="Calibri"/>
              </a:rP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53200" y="2758440"/>
            <a:ext cx="2225040" cy="883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ULI / OCEN simulator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LSP → ULI → BANK → AA → FIP round-trip carrying the real consent handle and record counts per hop, plus the actual health-card / sanction produced.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74320" y="3870960"/>
            <a:ext cx="2773680" cy="106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84048" y="3980688"/>
            <a:ext cx="256032" cy="256032"/>
          </a:xfrm>
          <a:prstGeom prst="ellipse">
            <a:avLst/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46046"/>
                </a:solidFill>
                <a:latin typeface="Calibri"/>
              </a:rPr>
              <a:t>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" y="3962400"/>
            <a:ext cx="2225040" cy="883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Loan application + sanction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One-click apply → auto-sanction if APPROVE → printable letter with EMI, covenants and an RBI-DLG Key Fact Statement.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185160" y="3870960"/>
            <a:ext cx="2773680" cy="106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294888" y="3980688"/>
            <a:ext cx="256032" cy="256032"/>
          </a:xfrm>
          <a:prstGeom prst="ellipse">
            <a:avLst/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46046"/>
                </a:solidFill>
                <a:latin typeface="Calibri"/>
              </a:rP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42360" y="3962400"/>
            <a:ext cx="2225040" cy="883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Borrower recommendations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“Do X → gain ~Y pts” actions with uplifts computed by re-running the scorecard, stacked into a path to the next band.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096000" y="3870960"/>
            <a:ext cx="2773680" cy="1066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205728" y="3980688"/>
            <a:ext cx="256032" cy="256032"/>
          </a:xfrm>
          <a:prstGeom prst="ellipse">
            <a:avLst/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46046"/>
                </a:solidFill>
                <a:latin typeface="Calibri"/>
              </a:rPr>
              <a:t>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53200" y="3962400"/>
            <a:ext cx="2225040" cy="883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Benchmarks · history · what-if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Percentile chips, observed-vs-reconstructed score history, and a live what-if simulator on every card.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Process flow diagram or Use-case diagram</a:t>
            </a:r>
            <a:endParaRPr b="1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Rounded Rectangle 83"/>
          <p:cNvSpPr/>
          <p:nvPr/>
        </p:nvSpPr>
        <p:spPr>
          <a:xfrm>
            <a:off x="525780" y="1828800"/>
            <a:ext cx="1234440" cy="1234440"/>
          </a:xfrm>
          <a:prstGeom prst="roundRect">
            <a:avLst>
              <a:gd name="adj" fmla="val 8000"/>
            </a:avLst>
          </a:prstGeom>
          <a:solidFill>
            <a:srgbClr val="E6F5EF"/>
          </a:solidFill>
          <a:ln w="9525">
            <a:solidFill>
              <a:srgbClr val="046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1832" y="1627632"/>
            <a:ext cx="402336" cy="402336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500" y="2121408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1B2233"/>
                </a:solidFill>
                <a:latin typeface="Calibri"/>
              </a:rPr>
              <a:t>Onboard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68880"/>
            <a:ext cx="11430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0" i="0">
                <a:solidFill>
                  <a:srgbClr val="586582"/>
                </a:solidFill>
                <a:latin typeface="Calibri"/>
              </a:rPr>
              <a:t>Officer picks / MSME lands on tile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1760220" y="2363724"/>
            <a:ext cx="137160" cy="164592"/>
          </a:xfrm>
          <a:prstGeom prst="rightArrow">
            <a:avLst/>
          </a:prstGeom>
          <a:solidFill>
            <a:srgbClr val="A9B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897380" y="1828800"/>
            <a:ext cx="1234440" cy="1234440"/>
          </a:xfrm>
          <a:prstGeom prst="roundRect">
            <a:avLst>
              <a:gd name="adj" fmla="val 8000"/>
            </a:avLst>
          </a:prstGeom>
          <a:solidFill>
            <a:srgbClr val="E6F5EF"/>
          </a:solidFill>
          <a:ln w="9525">
            <a:solidFill>
              <a:srgbClr val="046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313432" y="1627632"/>
            <a:ext cx="402336" cy="402336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43100" y="2121408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1B2233"/>
                </a:solidFill>
                <a:latin typeface="Calibri"/>
              </a:rPr>
              <a:t>Consent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43100" y="2468880"/>
            <a:ext cx="11430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0" i="0">
                <a:solidFill>
                  <a:srgbClr val="586582"/>
                </a:solidFill>
                <a:latin typeface="Calibri"/>
              </a:rPr>
              <a:t>AA-style handle issued, per-source</a:t>
            </a:r>
          </a:p>
        </p:txBody>
      </p:sp>
      <p:sp>
        <p:nvSpPr>
          <p:cNvPr id="93" name="Right Arrow 92"/>
          <p:cNvSpPr/>
          <p:nvPr/>
        </p:nvSpPr>
        <p:spPr>
          <a:xfrm>
            <a:off x="3131820" y="2363724"/>
            <a:ext cx="137160" cy="164592"/>
          </a:xfrm>
          <a:prstGeom prst="rightArrow">
            <a:avLst/>
          </a:prstGeom>
          <a:solidFill>
            <a:srgbClr val="A9B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3268980" y="1828800"/>
            <a:ext cx="1234440" cy="1234440"/>
          </a:xfrm>
          <a:prstGeom prst="roundRect">
            <a:avLst>
              <a:gd name="adj" fmla="val 8000"/>
            </a:avLst>
          </a:prstGeom>
          <a:solidFill>
            <a:srgbClr val="E6F5EF"/>
          </a:solidFill>
          <a:ln w="9525">
            <a:solidFill>
              <a:srgbClr val="046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685032" y="1627632"/>
            <a:ext cx="402336" cy="402336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14700" y="2121408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1B2233"/>
                </a:solidFill>
                <a:latin typeface="Calibri"/>
              </a:rPr>
              <a:t>Data pull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14700" y="2468880"/>
            <a:ext cx="11430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0" i="0">
                <a:solidFill>
                  <a:srgbClr val="586582"/>
                </a:solidFill>
                <a:latin typeface="Calibri"/>
              </a:rPr>
              <a:t>GST + AA + EPFO + UPI normalised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4503420" y="2363724"/>
            <a:ext cx="137160" cy="164592"/>
          </a:xfrm>
          <a:prstGeom prst="rightArrow">
            <a:avLst/>
          </a:prstGeom>
          <a:solidFill>
            <a:srgbClr val="A9B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640580" y="1828800"/>
            <a:ext cx="1234440" cy="1234440"/>
          </a:xfrm>
          <a:prstGeom prst="roundRect">
            <a:avLst>
              <a:gd name="adj" fmla="val 8000"/>
            </a:avLst>
          </a:prstGeom>
          <a:solidFill>
            <a:srgbClr val="E6F5EF"/>
          </a:solidFill>
          <a:ln w="9525">
            <a:solidFill>
              <a:srgbClr val="046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056632" y="1627632"/>
            <a:ext cx="402336" cy="402336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86300" y="2121408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1B2233"/>
                </a:solidFill>
                <a:latin typeface="Calibri"/>
              </a:rPr>
              <a:t>Score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86300" y="2468880"/>
            <a:ext cx="11430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0" i="0">
                <a:solidFill>
                  <a:srgbClr val="586582"/>
                </a:solidFill>
                <a:latin typeface="Calibri"/>
              </a:rPr>
              <a:t>6 dims → composite → ML PD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5875020" y="2363724"/>
            <a:ext cx="137160" cy="164592"/>
          </a:xfrm>
          <a:prstGeom prst="rightArrow">
            <a:avLst/>
          </a:prstGeom>
          <a:solidFill>
            <a:srgbClr val="A9B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012180" y="1828800"/>
            <a:ext cx="1234440" cy="1234440"/>
          </a:xfrm>
          <a:prstGeom prst="roundRect">
            <a:avLst>
              <a:gd name="adj" fmla="val 8000"/>
            </a:avLst>
          </a:prstGeom>
          <a:solidFill>
            <a:srgbClr val="E6F5EF"/>
          </a:solidFill>
          <a:ln w="9525">
            <a:solidFill>
              <a:srgbClr val="046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428232" y="1627632"/>
            <a:ext cx="402336" cy="402336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57900" y="2121408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1B2233"/>
                </a:solidFill>
                <a:latin typeface="Calibri"/>
              </a:rPr>
              <a:t>Decide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57900" y="2468880"/>
            <a:ext cx="11430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0" i="0">
                <a:solidFill>
                  <a:srgbClr val="586582"/>
                </a:solidFill>
                <a:latin typeface="Calibri"/>
              </a:rPr>
              <a:t>APPROVE / REFER / DECLINE + limit</a:t>
            </a:r>
          </a:p>
        </p:txBody>
      </p:sp>
      <p:sp>
        <p:nvSpPr>
          <p:cNvPr id="108" name="Right Arrow 107"/>
          <p:cNvSpPr/>
          <p:nvPr/>
        </p:nvSpPr>
        <p:spPr>
          <a:xfrm>
            <a:off x="7246620" y="2363724"/>
            <a:ext cx="137160" cy="164592"/>
          </a:xfrm>
          <a:prstGeom prst="rightArrow">
            <a:avLst/>
          </a:prstGeom>
          <a:solidFill>
            <a:srgbClr val="A9B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7383780" y="1828800"/>
            <a:ext cx="1234440" cy="1234440"/>
          </a:xfrm>
          <a:prstGeom prst="roundRect">
            <a:avLst>
              <a:gd name="adj" fmla="val 8000"/>
            </a:avLst>
          </a:prstGeom>
          <a:solidFill>
            <a:srgbClr val="E6F5EF"/>
          </a:solidFill>
          <a:ln w="9525">
            <a:solidFill>
              <a:srgbClr val="046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799832" y="1627632"/>
            <a:ext cx="402336" cy="402336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29500" y="2121408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 i="0">
                <a:solidFill>
                  <a:srgbClr val="1B2233"/>
                </a:solidFill>
                <a:latin typeface="Calibri"/>
              </a:rPr>
              <a:t>Sanction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29500" y="2468880"/>
            <a:ext cx="11430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00" b="0" i="0">
                <a:solidFill>
                  <a:srgbClr val="586582"/>
                </a:solidFill>
                <a:latin typeface="Calibri"/>
              </a:rPr>
              <a:t>Application + printable letter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74320" y="3703320"/>
            <a:ext cx="8595360" cy="1051560"/>
          </a:xfrm>
          <a:prstGeom prst="roundRect">
            <a:avLst>
              <a:gd name="adj" fmla="val 3000"/>
            </a:avLst>
          </a:prstGeom>
          <a:solidFill>
            <a:srgbClr val="F6F7F9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57200" y="3813048"/>
            <a:ext cx="8229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Every hop is auditable. </a:t>
            </a:r>
            <a:r>
              <a:rPr sz="1100" b="0" i="0">
                <a:solidFill>
                  <a:srgbClr val="2B3448"/>
                </a:solidFill>
                <a:latin typeface="Calibri"/>
              </a:rPr>
              <a:t>Consent is registered up front and validated on every downstream pull — unknown / revoked / expired handles are rejected with 403. Data pulls return in seconds; the composite score, ML PD and full explanation are all generated on-demand from the same request.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Wireframes/Mock diagrams of the proposed solution (optional)</a:t>
            </a:r>
            <a:endParaRPr b="1"/>
          </a:p>
        </p:txBody>
      </p:sp>
      <p:pic>
        <p:nvPicPr>
          <p:cNvPr id="89" name="Google Shape;89;p18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Rounded Rectangle 90"/>
          <p:cNvSpPr/>
          <p:nvPr/>
        </p:nvSpPr>
        <p:spPr>
          <a:xfrm>
            <a:off x="274320" y="1463040"/>
            <a:ext cx="4206240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4320" y="1463040"/>
            <a:ext cx="4206240" cy="256032"/>
          </a:xfrm>
          <a:prstGeom prst="rect">
            <a:avLst/>
          </a:prstGeom>
          <a:solidFill>
            <a:srgbClr val="F6F7F9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65760" y="1536192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12064" y="153619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58368" y="1536192"/>
            <a:ext cx="118872" cy="118872"/>
          </a:xfrm>
          <a:prstGeom prst="ellipse">
            <a:avLst/>
          </a:prstGeom>
          <a:solidFill>
            <a:srgbClr val="0E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4400" y="1508760"/>
            <a:ext cx="34747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 i="0">
                <a:solidFill>
                  <a:srgbClr val="586582"/>
                </a:solidFill>
                <a:latin typeface="Consolas"/>
              </a:rPr>
              <a:t>msme-frontend-kahy.onrender.com / landing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1828800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1B2233"/>
                </a:solidFill>
                <a:latin typeface="Calibri"/>
              </a:rPr>
              <a:t>Landing</a:t>
            </a:r>
            <a:r>
              <a:rPr sz="1400" b="0" i="0">
                <a:solidFill>
                  <a:srgbClr val="A9B3C4"/>
                </a:solidFill>
                <a:latin typeface="Calibri"/>
              </a:rPr>
              <a:t>  ·  </a:t>
            </a:r>
            <a:r>
              <a:rPr sz="1100" b="0" i="1">
                <a:solidFill>
                  <a:srgbClr val="586582"/>
                </a:solidFill>
                <a:latin typeface="Calibri"/>
              </a:rPr>
              <a:t>5-persona picker + hero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2920" y="2331720"/>
            <a:ext cx="37490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Track 03 header pill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Bold ‘credit-invisible’ headline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5 MSME tiles → open Consent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663440" y="1463040"/>
            <a:ext cx="4206240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663440" y="1463040"/>
            <a:ext cx="4206240" cy="256032"/>
          </a:xfrm>
          <a:prstGeom prst="rect">
            <a:avLst/>
          </a:prstGeom>
          <a:solidFill>
            <a:srgbClr val="F6F7F9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754880" y="1536192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901184" y="153619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047488" y="1536192"/>
            <a:ext cx="118872" cy="118872"/>
          </a:xfrm>
          <a:prstGeom prst="ellipse">
            <a:avLst/>
          </a:prstGeom>
          <a:solidFill>
            <a:srgbClr val="0E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03520" y="1508760"/>
            <a:ext cx="34747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 i="0">
                <a:solidFill>
                  <a:srgbClr val="586582"/>
                </a:solidFill>
                <a:latin typeface="Consolas"/>
              </a:rPr>
              <a:t>msme-frontend-kahy.onrender.com / consent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46320" y="1828800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1B2233"/>
                </a:solidFill>
                <a:latin typeface="Calibri"/>
              </a:rPr>
              <a:t>Consent</a:t>
            </a:r>
            <a:r>
              <a:rPr sz="1400" b="0" i="0">
                <a:solidFill>
                  <a:srgbClr val="A9B3C4"/>
                </a:solidFill>
                <a:latin typeface="Calibri"/>
              </a:rPr>
              <a:t>  ·  </a:t>
            </a:r>
            <a:r>
              <a:rPr sz="1100" b="0" i="1">
                <a:solidFill>
                  <a:srgbClr val="586582"/>
                </a:solidFill>
                <a:latin typeface="Calibri"/>
              </a:rPr>
              <a:t>Source-by-source flow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92040" y="2331720"/>
            <a:ext cx="37490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GST · AA · EPFO · UPI toggles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Real /data-pack call on grant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Per-source Fetched / Queued chips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74320" y="3291840"/>
            <a:ext cx="4206240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74320" y="3291840"/>
            <a:ext cx="4206240" cy="256032"/>
          </a:xfrm>
          <a:prstGeom prst="rect">
            <a:avLst/>
          </a:prstGeom>
          <a:solidFill>
            <a:srgbClr val="F6F7F9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5760" y="3364992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12064" y="336499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58368" y="3364992"/>
            <a:ext cx="118872" cy="118872"/>
          </a:xfrm>
          <a:prstGeom prst="ellipse">
            <a:avLst/>
          </a:prstGeom>
          <a:solidFill>
            <a:srgbClr val="0E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4400" y="3337560"/>
            <a:ext cx="34747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 i="0">
                <a:solidFill>
                  <a:srgbClr val="586582"/>
                </a:solidFill>
                <a:latin typeface="Consolas"/>
              </a:rPr>
              <a:t>msme-frontend-kahy.onrender.com / health-card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" y="3657600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1B2233"/>
                </a:solidFill>
                <a:latin typeface="Calibri"/>
              </a:rPr>
              <a:t>Health Card</a:t>
            </a:r>
            <a:r>
              <a:rPr sz="1400" b="0" i="0">
                <a:solidFill>
                  <a:srgbClr val="A9B3C4"/>
                </a:solidFill>
                <a:latin typeface="Calibri"/>
              </a:rPr>
              <a:t>  ·  </a:t>
            </a:r>
            <a:r>
              <a:rPr sz="1100" b="0" i="1">
                <a:solidFill>
                  <a:srgbClr val="586582"/>
                </a:solidFill>
                <a:latin typeface="Calibri"/>
              </a:rPr>
              <a:t>Officer / Borrower toggle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2920" y="4160520"/>
            <a:ext cx="37490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Score dial + risk band + recommendation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Radar + score-history chart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Decision panel + limit workings + Apply CTA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ML second-opinion panel with drivers/supports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663440" y="3291840"/>
            <a:ext cx="4206240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663440" y="3291840"/>
            <a:ext cx="4206240" cy="256032"/>
          </a:xfrm>
          <a:prstGeom prst="rect">
            <a:avLst/>
          </a:prstGeom>
          <a:solidFill>
            <a:srgbClr val="F6F7F9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754880" y="3364992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901184" y="336499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047488" y="3364992"/>
            <a:ext cx="118872" cy="118872"/>
          </a:xfrm>
          <a:prstGeom prst="ellipse">
            <a:avLst/>
          </a:prstGeom>
          <a:solidFill>
            <a:srgbClr val="0E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03520" y="3337560"/>
            <a:ext cx="34747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 i="0">
                <a:solidFill>
                  <a:srgbClr val="586582"/>
                </a:solidFill>
                <a:latin typeface="Consolas"/>
              </a:rPr>
              <a:t>msme-frontend-kahy.onrender.com / portfolio-impact-ecosystem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46320" y="3657600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1B2233"/>
                </a:solidFill>
                <a:latin typeface="Calibri"/>
              </a:rPr>
              <a:t>Portfolio + Impact + Ecosystem</a:t>
            </a:r>
            <a:r>
              <a:rPr sz="1400" b="0" i="0">
                <a:solidFill>
                  <a:srgbClr val="A9B3C4"/>
                </a:solidFill>
                <a:latin typeface="Calibri"/>
              </a:rPr>
              <a:t>  ·  </a:t>
            </a:r>
            <a:r>
              <a:rPr sz="1100" b="0" i="1">
                <a:solidFill>
                  <a:srgbClr val="586582"/>
                </a:solidFill>
                <a:latin typeface="Calibri"/>
              </a:rPr>
              <a:t>Officer dashboards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92040" y="4160520"/>
            <a:ext cx="37490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30-MSME book — trend, EWS, watch-list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Impact: traditional vs alternate mix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▸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ULI / OCEN wire-timeline simulator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Architecture diagram of the proposed solution</a:t>
            </a:r>
            <a:endParaRPr b="1"/>
          </a:p>
        </p:txBody>
      </p:sp>
      <p:pic>
        <p:nvPicPr>
          <p:cNvPr id="96" name="Google Shape;96;p19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Rounded Rectangle 97"/>
          <p:cNvSpPr/>
          <p:nvPr/>
        </p:nvSpPr>
        <p:spPr>
          <a:xfrm>
            <a:off x="274320" y="1463040"/>
            <a:ext cx="8595360" cy="621792"/>
          </a:xfrm>
          <a:prstGeom prst="roundRect">
            <a:avLst>
              <a:gd name="adj" fmla="val 4000"/>
            </a:avLst>
          </a:prstGeom>
          <a:solidFill>
            <a:srgbClr val="E6F5E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57200" y="1600200"/>
            <a:ext cx="365760" cy="274320"/>
          </a:xfrm>
          <a:prstGeom prst="roundRect">
            <a:avLst>
              <a:gd name="adj" fmla="val 50000"/>
            </a:avLst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4400" y="1508760"/>
            <a:ext cx="7955279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B2233"/>
                </a:solidFill>
                <a:latin typeface="Calibri"/>
              </a:rPr>
              <a:t>Presentation (Vite + React + Tailwind)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2B3448"/>
                </a:solidFill>
                <a:latin typeface="Calibri"/>
              </a:rPr>
              <a:t>Landing · Consent · HealthCard · Portfolio · Impact · Ecosystem · Sanction · Consent-log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74320" y="2176272"/>
            <a:ext cx="8595360" cy="621792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57200" y="2313432"/>
            <a:ext cx="36576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" y="2221992"/>
            <a:ext cx="7955279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B2233"/>
                </a:solidFill>
                <a:latin typeface="Calibri"/>
              </a:rPr>
              <a:t>API (FastAPI on Uvicorn)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2B3448"/>
                </a:solidFill>
                <a:latin typeface="Calibri"/>
              </a:rPr>
              <a:t>/msme · /consent · /data-pack · /health-card · /what-if · /portfolio · /stress · /impact · /uli · /ocen · /audit · /compliance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74320" y="2889504"/>
            <a:ext cx="8595360" cy="621792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57200" y="3026664"/>
            <a:ext cx="365760" cy="274320"/>
          </a:xfrm>
          <a:prstGeom prst="roundRect">
            <a:avLst>
              <a:gd name="adj" fmla="val 50000"/>
            </a:avLst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4400" y="2935224"/>
            <a:ext cx="7955279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B2233"/>
                </a:solidFill>
                <a:latin typeface="Calibri"/>
              </a:rPr>
              <a:t>Domain (scoring + ML)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2B3448"/>
                </a:solidFill>
                <a:latin typeface="Calibri"/>
              </a:rPr>
              <a:t>features → 6 dimensions → composite → decision → recommendations · calibrated HistGB PD + counterfactual explainer · benchmarks · portfolio · stress · impact · ecosystem · applications · consent · audit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74320" y="3602736"/>
            <a:ext cx="8595360" cy="621792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457200" y="3739896"/>
            <a:ext cx="365760" cy="274320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3648456"/>
            <a:ext cx="7955279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B2233"/>
                </a:solidFill>
                <a:latin typeface="Calibri"/>
              </a:rPr>
              <a:t>Connectors (Protocol contracts, mock impls)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2B3448"/>
                </a:solidFill>
                <a:latin typeface="Calibri"/>
              </a:rPr>
              <a:t>Identity · Gst · Aa · Epfo · Upi · Bureau (display-only stub) connectors — swap-in ready for real GSTN / AA / EPFO / NPCI / bureaus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" y="4315968"/>
            <a:ext cx="8595360" cy="621792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457200" y="4453128"/>
            <a:ext cx="36576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4361688"/>
            <a:ext cx="7955279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B2233"/>
                </a:solidFill>
                <a:latin typeface="Calibri"/>
              </a:rPr>
              <a:t>Rails (consent-first, ULI/OCEN-ready)</a:t>
            </a:r>
          </a:p>
          <a:p>
            <a:pPr algn="l">
              <a:spcBef>
                <a:spcPts val="300"/>
              </a:spcBef>
            </a:pPr>
            <a:r>
              <a:rPr sz="1000" b="0" i="0">
                <a:solidFill>
                  <a:srgbClr val="2B3448"/>
                </a:solidFill>
                <a:latin typeface="Calibri"/>
              </a:rPr>
              <a:t>AA consent artefacts · GSTN GSTR-1/3B pulls · EPFO establishment fetches · UPI acquirer feed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Rounded Rectangle 104"/>
          <p:cNvSpPr/>
          <p:nvPr/>
        </p:nvSpPr>
        <p:spPr>
          <a:xfrm>
            <a:off x="274320" y="14630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160020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046046"/>
                </a:solidFill>
                <a:latin typeface="Calibri"/>
              </a:rPr>
              <a:t>Frontend</a:t>
            </a:r>
          </a:p>
        </p:txBody>
      </p:sp>
      <p:sp>
        <p:nvSpPr>
          <p:cNvPr id="107" name="Oval 106"/>
          <p:cNvSpPr/>
          <p:nvPr/>
        </p:nvSpPr>
        <p:spPr>
          <a:xfrm>
            <a:off x="502920" y="2130552"/>
            <a:ext cx="109728" cy="109728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203911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React 18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UI framework</a:t>
            </a:r>
          </a:p>
        </p:txBody>
      </p:sp>
      <p:sp>
        <p:nvSpPr>
          <p:cNvPr id="109" name="Oval 108"/>
          <p:cNvSpPr/>
          <p:nvPr/>
        </p:nvSpPr>
        <p:spPr>
          <a:xfrm>
            <a:off x="502920" y="2542032"/>
            <a:ext cx="109728" cy="109728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1520" y="245059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Vite 5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Dev server + build</a:t>
            </a:r>
          </a:p>
        </p:txBody>
      </p:sp>
      <p:sp>
        <p:nvSpPr>
          <p:cNvPr id="111" name="Oval 110"/>
          <p:cNvSpPr/>
          <p:nvPr/>
        </p:nvSpPr>
        <p:spPr>
          <a:xfrm>
            <a:off x="502920" y="2953512"/>
            <a:ext cx="109728" cy="109728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31520" y="286207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TypeScript 5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Type-safe UI</a:t>
            </a:r>
          </a:p>
        </p:txBody>
      </p:sp>
      <p:sp>
        <p:nvSpPr>
          <p:cNvPr id="113" name="Oval 112"/>
          <p:cNvSpPr/>
          <p:nvPr/>
        </p:nvSpPr>
        <p:spPr>
          <a:xfrm>
            <a:off x="502920" y="3364992"/>
            <a:ext cx="109728" cy="109728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1520" y="327355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Tailwind 3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Utility CSS</a:t>
            </a:r>
          </a:p>
        </p:txBody>
      </p:sp>
      <p:sp>
        <p:nvSpPr>
          <p:cNvPr id="115" name="Oval 114"/>
          <p:cNvSpPr/>
          <p:nvPr/>
        </p:nvSpPr>
        <p:spPr>
          <a:xfrm>
            <a:off x="502920" y="3776472"/>
            <a:ext cx="109728" cy="109728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31520" y="368503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Recharts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Radar / line / area charts</a:t>
            </a:r>
          </a:p>
        </p:txBody>
      </p:sp>
      <p:sp>
        <p:nvSpPr>
          <p:cNvPr id="117" name="Oval 116"/>
          <p:cNvSpPr/>
          <p:nvPr/>
        </p:nvSpPr>
        <p:spPr>
          <a:xfrm>
            <a:off x="502920" y="4187952"/>
            <a:ext cx="109728" cy="109728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31520" y="409651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React Router 6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SPA routing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200400" y="14630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383280" y="160020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0369A1"/>
                </a:solidFill>
                <a:latin typeface="Calibri"/>
              </a:rPr>
              <a:t>Backend</a:t>
            </a:r>
          </a:p>
        </p:txBody>
      </p:sp>
      <p:sp>
        <p:nvSpPr>
          <p:cNvPr id="121" name="Oval 120"/>
          <p:cNvSpPr/>
          <p:nvPr/>
        </p:nvSpPr>
        <p:spPr>
          <a:xfrm>
            <a:off x="3429000" y="2130552"/>
            <a:ext cx="109728" cy="109728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657600" y="203911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FastAPI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REST + OpenAPI</a:t>
            </a:r>
          </a:p>
        </p:txBody>
      </p:sp>
      <p:sp>
        <p:nvSpPr>
          <p:cNvPr id="123" name="Oval 122"/>
          <p:cNvSpPr/>
          <p:nvPr/>
        </p:nvSpPr>
        <p:spPr>
          <a:xfrm>
            <a:off x="3429000" y="2542032"/>
            <a:ext cx="109728" cy="109728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657600" y="245059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Uvicorn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ASGI server</a:t>
            </a:r>
          </a:p>
        </p:txBody>
      </p:sp>
      <p:sp>
        <p:nvSpPr>
          <p:cNvPr id="125" name="Oval 124"/>
          <p:cNvSpPr/>
          <p:nvPr/>
        </p:nvSpPr>
        <p:spPr>
          <a:xfrm>
            <a:off x="3429000" y="2953512"/>
            <a:ext cx="109728" cy="109728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7600" y="286207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Pydantic v2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Schemas + validation</a:t>
            </a:r>
          </a:p>
        </p:txBody>
      </p:sp>
      <p:sp>
        <p:nvSpPr>
          <p:cNvPr id="127" name="Oval 126"/>
          <p:cNvSpPr/>
          <p:nvPr/>
        </p:nvSpPr>
        <p:spPr>
          <a:xfrm>
            <a:off x="3429000" y="3364992"/>
            <a:ext cx="109728" cy="109728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657600" y="327355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scikit-learn 1.4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HistGradientBoosting</a:t>
            </a:r>
          </a:p>
        </p:txBody>
      </p:sp>
      <p:sp>
        <p:nvSpPr>
          <p:cNvPr id="129" name="Oval 128"/>
          <p:cNvSpPr/>
          <p:nvPr/>
        </p:nvSpPr>
        <p:spPr>
          <a:xfrm>
            <a:off x="3429000" y="3776472"/>
            <a:ext cx="109728" cy="109728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57600" y="368503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NumPy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Feature vectors</a:t>
            </a:r>
          </a:p>
        </p:txBody>
      </p:sp>
      <p:sp>
        <p:nvSpPr>
          <p:cNvPr id="131" name="Oval 130"/>
          <p:cNvSpPr/>
          <p:nvPr/>
        </p:nvSpPr>
        <p:spPr>
          <a:xfrm>
            <a:off x="3429000" y="4187952"/>
            <a:ext cx="109728" cy="109728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57600" y="409651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Python 3.11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Runtime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126480" y="14630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160020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 i="0">
                <a:solidFill>
                  <a:srgbClr val="6B21A8"/>
                </a:solidFill>
                <a:latin typeface="Calibri"/>
              </a:rPr>
              <a:t>Rails / Deploy</a:t>
            </a:r>
          </a:p>
        </p:txBody>
      </p:sp>
      <p:sp>
        <p:nvSpPr>
          <p:cNvPr id="135" name="Oval 134"/>
          <p:cNvSpPr/>
          <p:nvPr/>
        </p:nvSpPr>
        <p:spPr>
          <a:xfrm>
            <a:off x="6355080" y="2130552"/>
            <a:ext cx="109728" cy="109728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583680" y="203911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AA (ReBIT FI shape)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Consent + bank data</a:t>
            </a:r>
          </a:p>
        </p:txBody>
      </p:sp>
      <p:sp>
        <p:nvSpPr>
          <p:cNvPr id="137" name="Oval 136"/>
          <p:cNvSpPr/>
          <p:nvPr/>
        </p:nvSpPr>
        <p:spPr>
          <a:xfrm>
            <a:off x="6355080" y="2542032"/>
            <a:ext cx="109728" cy="109728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583680" y="245059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GSTN GSTR-1 / 3B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Filing history</a:t>
            </a:r>
          </a:p>
        </p:txBody>
      </p:sp>
      <p:sp>
        <p:nvSpPr>
          <p:cNvPr id="139" name="Oval 138"/>
          <p:cNvSpPr/>
          <p:nvPr/>
        </p:nvSpPr>
        <p:spPr>
          <a:xfrm>
            <a:off x="6355080" y="2953512"/>
            <a:ext cx="109728" cy="109728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583680" y="286207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EPFO extract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Payroll / headcount</a:t>
            </a:r>
          </a:p>
        </p:txBody>
      </p:sp>
      <p:sp>
        <p:nvSpPr>
          <p:cNvPr id="141" name="Oval 140"/>
          <p:cNvSpPr/>
          <p:nvPr/>
        </p:nvSpPr>
        <p:spPr>
          <a:xfrm>
            <a:off x="6355080" y="3364992"/>
            <a:ext cx="109728" cy="109728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0" y="327355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UPI acquirer feed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Merchant receipts</a:t>
            </a:r>
          </a:p>
        </p:txBody>
      </p:sp>
      <p:sp>
        <p:nvSpPr>
          <p:cNvPr id="143" name="Oval 142"/>
          <p:cNvSpPr/>
          <p:nvPr/>
        </p:nvSpPr>
        <p:spPr>
          <a:xfrm>
            <a:off x="6355080" y="3776472"/>
            <a:ext cx="109728" cy="109728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583680" y="368503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Render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Blueprint deploy</a:t>
            </a:r>
          </a:p>
        </p:txBody>
      </p:sp>
      <p:sp>
        <p:nvSpPr>
          <p:cNvPr id="145" name="Oval 144"/>
          <p:cNvSpPr/>
          <p:nvPr/>
        </p:nvSpPr>
        <p:spPr>
          <a:xfrm>
            <a:off x="6355080" y="4187952"/>
            <a:ext cx="109728" cy="109728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583680" y="4096512"/>
            <a:ext cx="21945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Git + GitHub</a:t>
            </a:r>
          </a:p>
          <a:p>
            <a:pPr algn="l">
              <a:spcBef>
                <a:spcPts val="100"/>
              </a:spcBef>
            </a:pPr>
            <a:r>
              <a:rPr sz="900" b="0" i="0">
                <a:solidFill>
                  <a:srgbClr val="586582"/>
                </a:solidFill>
                <a:latin typeface="Calibri"/>
              </a:rPr>
              <a:t>Source + CI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Estimated implementation cost (optional)</a:t>
            </a:r>
            <a:endParaRPr b="1"/>
          </a:p>
        </p:txBody>
      </p:sp>
      <p:pic>
        <p:nvPicPr>
          <p:cNvPr id="110" name="Google Shape;110;p21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Rounded Rectangle 111"/>
          <p:cNvSpPr/>
          <p:nvPr/>
        </p:nvSpPr>
        <p:spPr>
          <a:xfrm>
            <a:off x="274320" y="1463040"/>
            <a:ext cx="4023360" cy="3474720"/>
          </a:xfrm>
          <a:prstGeom prst="roundRect">
            <a:avLst>
              <a:gd name="adj" fmla="val 4000"/>
            </a:avLst>
          </a:prstGeom>
          <a:solidFill>
            <a:srgbClr val="E6F5EF"/>
          </a:solidFill>
          <a:ln w="9525">
            <a:solidFill>
              <a:srgbClr val="046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8640" y="1691640"/>
            <a:ext cx="3474720" cy="3017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046046"/>
                </a:solidFill>
                <a:latin typeface="Calibri"/>
              </a:rPr>
              <a:t>PROTOTYPE (BUILT)</a:t>
            </a:r>
          </a:p>
          <a:p>
            <a:pPr algn="l"/>
            <a:r>
              <a:rPr sz="4800" b="1" i="0">
                <a:solidFill>
                  <a:srgbClr val="046046"/>
                </a:solidFill>
                <a:latin typeface="Calibri"/>
              </a:rPr>
              <a:t>₹0</a:t>
            </a:r>
            <a:r>
              <a:rPr sz="1400" b="0" i="1">
                <a:solidFill>
                  <a:srgbClr val="586582"/>
                </a:solidFill>
                <a:latin typeface="Calibri"/>
              </a:rPr>
              <a:t>  demo cost</a:t>
            </a:r>
          </a:p>
          <a:p>
            <a:pPr algn="l">
              <a:spcBef>
                <a:spcPts val="1400"/>
              </a:spcBef>
            </a:pPr>
            <a:r>
              <a:rPr sz="1200" b="1" i="0">
                <a:solidFill>
                  <a:srgbClr val="2B3448"/>
                </a:solidFill>
                <a:latin typeface="Calibri"/>
              </a:rPr>
              <a:t>Runs entirely on free tiers: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2B3448"/>
                </a:solidFill>
                <a:latin typeface="Calibri"/>
              </a:rPr>
              <a:t>· Render — free web + static site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2B3448"/>
                </a:solidFill>
                <a:latin typeface="Calibri"/>
              </a:rPr>
              <a:t>· FastAPI + scikit-learn — open-source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2B3448"/>
                </a:solidFill>
                <a:latin typeface="Calibri"/>
              </a:rPr>
              <a:t>· Vite + React + Tailwind — open-source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2B3448"/>
                </a:solidFill>
                <a:latin typeface="Calibri"/>
              </a:rPr>
              <a:t>· 30-MSME synthetic portfolio in-process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2B3448"/>
                </a:solidFill>
                <a:latin typeface="Calibri"/>
              </a:rPr>
              <a:t>· No external API charges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480560" y="1463040"/>
            <a:ext cx="43891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754880" y="1691640"/>
            <a:ext cx="3840480" cy="3017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1B2233"/>
                </a:solidFill>
                <a:latin typeface="Calibri"/>
              </a:rPr>
              <a:t>PRODUCTION (INDICATIVE, ₹ p.a.)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54880" y="2377440"/>
            <a:ext cx="2765145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0">
                <a:solidFill>
                  <a:srgbClr val="2B3448"/>
                </a:solidFill>
                <a:latin typeface="Calibri"/>
              </a:rPr>
              <a:t>AA licensing (RBI-regulated FIU)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520025" y="2377440"/>
            <a:ext cx="1075334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1" i="0">
                <a:solidFill>
                  <a:srgbClr val="1B2233"/>
                </a:solidFill>
                <a:latin typeface="Consolas"/>
              </a:rPr>
              <a:t>₹15–25 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54880" y="2670048"/>
            <a:ext cx="2765145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0">
                <a:solidFill>
                  <a:srgbClr val="2B3448"/>
                </a:solidFill>
                <a:latin typeface="Calibri"/>
              </a:rPr>
              <a:t>GSTN Suvidha Provider integration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520025" y="2670048"/>
            <a:ext cx="1075334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1" i="0">
                <a:solidFill>
                  <a:srgbClr val="1B2233"/>
                </a:solidFill>
                <a:latin typeface="Consolas"/>
              </a:rPr>
              <a:t>₹8–12 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54880" y="2962656"/>
            <a:ext cx="2765145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0">
                <a:solidFill>
                  <a:srgbClr val="2B3448"/>
                </a:solidFill>
                <a:latin typeface="Calibri"/>
              </a:rPr>
              <a:t>EPFO + UPI feed onboarding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520025" y="2962656"/>
            <a:ext cx="1075334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1" i="0">
                <a:solidFill>
                  <a:srgbClr val="1B2233"/>
                </a:solidFill>
                <a:latin typeface="Consolas"/>
              </a:rPr>
              <a:t>₹4–6 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54880" y="3255264"/>
            <a:ext cx="2765145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0">
                <a:solidFill>
                  <a:srgbClr val="2B3448"/>
                </a:solidFill>
                <a:latin typeface="Calibri"/>
              </a:rPr>
              <a:t>Cloud infra (Postgres + workers)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20025" y="3255264"/>
            <a:ext cx="1075334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1" i="0">
                <a:solidFill>
                  <a:srgbClr val="1B2233"/>
                </a:solidFill>
                <a:latin typeface="Consolas"/>
              </a:rPr>
              <a:t>₹6–10 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54880" y="3547872"/>
            <a:ext cx="2765145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0">
                <a:solidFill>
                  <a:srgbClr val="2B3448"/>
                </a:solidFill>
                <a:latin typeface="Calibri"/>
              </a:rPr>
              <a:t>Model ops (retrain + monitor)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20025" y="3547872"/>
            <a:ext cx="1075334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1" i="0">
                <a:solidFill>
                  <a:srgbClr val="1B2233"/>
                </a:solidFill>
                <a:latin typeface="Consolas"/>
              </a:rPr>
              <a:t>₹4–6 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754880" y="3840480"/>
            <a:ext cx="2765145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0">
                <a:solidFill>
                  <a:srgbClr val="2B3448"/>
                </a:solidFill>
                <a:latin typeface="Calibri"/>
              </a:rPr>
              <a:t>Security audit / RBI compliance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20025" y="3840480"/>
            <a:ext cx="1075334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1" i="0">
                <a:solidFill>
                  <a:srgbClr val="1B2233"/>
                </a:solidFill>
                <a:latin typeface="Consolas"/>
              </a:rPr>
              <a:t>₹8–12 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754880" y="4178808"/>
            <a:ext cx="2765145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Year-one estimate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520025" y="4178808"/>
            <a:ext cx="1075334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300" b="1" i="0">
                <a:solidFill>
                  <a:srgbClr val="046046"/>
                </a:solidFill>
                <a:latin typeface="Consolas"/>
              </a:rPr>
              <a:t>₹45–70 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Rounded Rectangle 118"/>
          <p:cNvSpPr/>
          <p:nvPr/>
        </p:nvSpPr>
        <p:spPr>
          <a:xfrm>
            <a:off x="274320" y="1463040"/>
            <a:ext cx="420624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274320" y="1463040"/>
            <a:ext cx="4206240" cy="502920"/>
          </a:xfrm>
          <a:prstGeom prst="roundRect">
            <a:avLst>
              <a:gd name="adj" fmla="val 4000"/>
            </a:avLst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2920" y="1536192"/>
            <a:ext cx="3749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Health Card — NewGen Tech (NTC, Band A)</a:t>
            </a:r>
          </a:p>
          <a:p>
            <a:pPr algn="l">
              <a:spcBef>
                <a:spcPts val="100"/>
              </a:spcBef>
            </a:pPr>
            <a:r>
              <a:rPr sz="1000" b="0" i="1">
                <a:solidFill>
                  <a:srgbClr val="046046"/>
                </a:solidFill>
                <a:latin typeface="Calibri"/>
              </a:rPr>
              <a:t>composite 835 / 1000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2920" y="2103120"/>
            <a:ext cx="37490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Risk band: 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>A · Prime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Decision: 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>APPROVE · ₹34.7 L · 36 mo · 10.5%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ML PD: 2.9% · agrees with rulebook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Trend: 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>improving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663440" y="1463040"/>
            <a:ext cx="420624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4663440" y="1463040"/>
            <a:ext cx="4206240" cy="502920"/>
          </a:xfrm>
          <a:prstGeom prst="roundRect">
            <a:avLst>
              <a:gd name="adj" fmla="val 4000"/>
            </a:avLst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892040" y="1536192"/>
            <a:ext cx="3749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Health Card — Kumar Enterprises (Band D)</a:t>
            </a:r>
          </a:p>
          <a:p>
            <a:pPr algn="l">
              <a:spcBef>
                <a:spcPts val="100"/>
              </a:spcBef>
            </a:pPr>
            <a:r>
              <a:rPr sz="1000" b="0" i="1">
                <a:solidFill>
                  <a:srgbClr val="046046"/>
                </a:solidFill>
                <a:latin typeface="Calibri"/>
              </a:rPr>
              <a:t>composite 363 / 1000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2103120"/>
            <a:ext cx="37490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Risk band: 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>D · High risk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Decision: 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>DECLINE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ML PD: 95.1% · agrees with rulebook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Drivers: 4 bounces · GST 62.5% on time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/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74320" y="3291840"/>
            <a:ext cx="420624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274320" y="3291840"/>
            <a:ext cx="4206240" cy="502920"/>
          </a:xfrm>
          <a:prstGeom prst="roundRect">
            <a:avLst>
              <a:gd name="adj" fmla="val 4000"/>
            </a:avLst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" y="3364992"/>
            <a:ext cx="3749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Portfolio dashboard</a:t>
            </a:r>
          </a:p>
          <a:p>
            <a:pPr algn="l">
              <a:spcBef>
                <a:spcPts val="100"/>
              </a:spcBef>
            </a:pPr>
            <a:r>
              <a:rPr sz="1000" b="0" i="1">
                <a:solidFill>
                  <a:srgbClr val="046046"/>
                </a:solidFill>
                <a:latin typeface="Calibri"/>
              </a:rPr>
              <a:t>30 MSMEs · officer view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" y="3931920"/>
            <a:ext cx="37490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Bands: A=10 · B=12 · C=3 · D=5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Trend: ↑12 · →13 · ↓5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Watch-list: 17 flagged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NTC / NTB served: 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>12 firms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663440" y="3291840"/>
            <a:ext cx="420624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4663440" y="3291840"/>
            <a:ext cx="4206240" cy="502920"/>
          </a:xfrm>
          <a:prstGeom prst="roundRect">
            <a:avLst>
              <a:gd name="adj" fmla="val 4000"/>
            </a:avLst>
          </a:prstGeom>
          <a:solidFill>
            <a:srgbClr val="E6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892040" y="3364992"/>
            <a:ext cx="37490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B2233"/>
                </a:solidFill>
                <a:latin typeface="Calibri"/>
              </a:rPr>
              <a:t>Impact — before vs after</a:t>
            </a:r>
          </a:p>
          <a:p>
            <a:pPr algn="l">
              <a:spcBef>
                <a:spcPts val="100"/>
              </a:spcBef>
            </a:pPr>
            <a:r>
              <a:rPr sz="1000" b="0" i="1">
                <a:solidFill>
                  <a:srgbClr val="046046"/>
                </a:solidFill>
                <a:latin typeface="Calibri"/>
              </a:rPr>
              <a:t>traditional vs alternate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92040" y="3931920"/>
            <a:ext cx="37490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Approval coverage: 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>33% → 70%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NTC/NTB onboarded: 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>0 → 12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Exposure: 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>₹2.56 Cr → ₹6.47 Cr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 i="0">
                <a:solidFill>
                  <a:srgbClr val="586582"/>
                </a:solidFill>
                <a:latin typeface="Calibri"/>
              </a:rPr>
              <a:t>Additional served: </a:t>
            </a:r>
            <a:r>
              <a:rPr sz="1100" b="1" i="0">
                <a:solidFill>
                  <a:srgbClr val="1B2233"/>
                </a:solidFill>
                <a:latin typeface="Calibri"/>
              </a:rPr>
              <a:t>+17 MSMEs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Prototype Performance report/Benchmarking</a:t>
            </a:r>
            <a:endParaRPr b="1"/>
          </a:p>
        </p:txBody>
      </p:sp>
      <p:pic>
        <p:nvPicPr>
          <p:cNvPr id="124" name="Google Shape;124;p23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Rounded Rectangle 125"/>
          <p:cNvSpPr/>
          <p:nvPr/>
        </p:nvSpPr>
        <p:spPr>
          <a:xfrm>
            <a:off x="274320" y="1463040"/>
            <a:ext cx="204597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11480" y="1554480"/>
            <a:ext cx="177165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046046"/>
                </a:solidFill>
                <a:latin typeface="Calibri"/>
              </a:rPr>
              <a:t>0.3 s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B2233"/>
                </a:solidFill>
                <a:latin typeface="Calibri"/>
              </a:rPr>
              <a:t>Warm model load</a:t>
            </a:r>
          </a:p>
          <a:p>
            <a:pPr algn="l">
              <a:spcBef>
                <a:spcPts val="100"/>
              </a:spcBef>
            </a:pPr>
            <a:r>
              <a:rPr sz="900" b="0" i="1">
                <a:solidFill>
                  <a:srgbClr val="586582"/>
                </a:solidFill>
                <a:latin typeface="Calibri"/>
              </a:rPr>
              <a:t>cold train ~7 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457450" y="1463040"/>
            <a:ext cx="204597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594610" y="1554480"/>
            <a:ext cx="177165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046046"/>
                </a:solidFill>
                <a:latin typeface="Calibri"/>
              </a:rPr>
              <a:t>&lt;0.3 s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B2233"/>
                </a:solidFill>
                <a:latin typeface="Calibri"/>
              </a:rPr>
              <a:t>Full card via API</a:t>
            </a:r>
          </a:p>
          <a:p>
            <a:pPr algn="l">
              <a:spcBef>
                <a:spcPts val="100"/>
              </a:spcBef>
            </a:pPr>
            <a:r>
              <a:rPr sz="900" b="0" i="1">
                <a:solidFill>
                  <a:srgbClr val="586582"/>
                </a:solidFill>
                <a:latin typeface="Calibri"/>
              </a:rPr>
              <a:t>incl. ML + history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640580" y="1463040"/>
            <a:ext cx="204597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77740" y="1554480"/>
            <a:ext cx="177165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046046"/>
                </a:solidFill>
                <a:latin typeface="Calibri"/>
              </a:rPr>
              <a:t>70%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B2233"/>
                </a:solidFill>
                <a:latin typeface="Calibri"/>
              </a:rPr>
              <a:t>Approval coverage</a:t>
            </a:r>
          </a:p>
          <a:p>
            <a:pPr algn="l">
              <a:spcBef>
                <a:spcPts val="100"/>
              </a:spcBef>
            </a:pPr>
            <a:r>
              <a:rPr sz="900" b="0" i="1">
                <a:solidFill>
                  <a:srgbClr val="586582"/>
                </a:solidFill>
                <a:latin typeface="Calibri"/>
              </a:rPr>
              <a:t>vs 33% bureau-only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823710" y="1463040"/>
            <a:ext cx="204597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960870" y="1554480"/>
            <a:ext cx="177165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046046"/>
                </a:solidFill>
                <a:latin typeface="Calibri"/>
              </a:rPr>
              <a:t>+₹2.6 Cr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B2233"/>
                </a:solidFill>
                <a:latin typeface="Calibri"/>
              </a:rPr>
              <a:t>Exposure unlocked</a:t>
            </a:r>
          </a:p>
          <a:p>
            <a:pPr algn="l">
              <a:spcBef>
                <a:spcPts val="100"/>
              </a:spcBef>
            </a:pPr>
            <a:r>
              <a:rPr sz="900" b="0" i="1">
                <a:solidFill>
                  <a:srgbClr val="586582"/>
                </a:solidFill>
                <a:latin typeface="Calibri"/>
              </a:rPr>
              <a:t>extra ₹ served in the book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74320" y="2971800"/>
            <a:ext cx="438912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3063240"/>
            <a:ext cx="40233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B2233"/>
                </a:solidFill>
                <a:latin typeface="Calibri"/>
              </a:rPr>
              <a:t>Persona scores (deterministic per GSTIN)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7200" y="3474720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2B3448"/>
                </a:solidFill>
                <a:latin typeface="Calibri"/>
              </a:rPr>
              <a:t>Sharma Textiles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743200" y="347472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1" i="0">
                <a:solidFill>
                  <a:srgbClr val="1B2233"/>
                </a:solidFill>
                <a:latin typeface="Consolas"/>
              </a:rPr>
              <a:t>894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383280" y="3502152"/>
            <a:ext cx="320040" cy="182880"/>
          </a:xfrm>
          <a:prstGeom prst="roundRect">
            <a:avLst>
              <a:gd name="adj" fmla="val 50000"/>
            </a:avLst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749039" y="3474720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046046"/>
                </a:solidFill>
                <a:latin typeface="Calibri"/>
              </a:rPr>
              <a:t>APPROVE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7200" y="3749040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2B3448"/>
                </a:solidFill>
                <a:latin typeface="Calibri"/>
              </a:rPr>
              <a:t>NewGen Tech (NTC)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743200" y="374904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1" i="0">
                <a:solidFill>
                  <a:srgbClr val="1B2233"/>
                </a:solidFill>
                <a:latin typeface="Consolas"/>
              </a:rPr>
              <a:t>835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383280" y="3776472"/>
            <a:ext cx="320040" cy="182880"/>
          </a:xfrm>
          <a:prstGeom prst="roundRect">
            <a:avLst>
              <a:gd name="adj" fmla="val 50000"/>
            </a:avLst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749039" y="3749040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046046"/>
                </a:solidFill>
                <a:latin typeface="Calibri"/>
              </a:rPr>
              <a:t>APPROVE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57200" y="4023360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2B3448"/>
                </a:solidFill>
                <a:latin typeface="Calibri"/>
              </a:rPr>
              <a:t>Meera Handicrafts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743200" y="402336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1" i="0">
                <a:solidFill>
                  <a:srgbClr val="1B2233"/>
                </a:solidFill>
                <a:latin typeface="Consolas"/>
              </a:rPr>
              <a:t>709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383280" y="4050792"/>
            <a:ext cx="320040" cy="182880"/>
          </a:xfrm>
          <a:prstGeom prst="roundRect">
            <a:avLst>
              <a:gd name="adj" fmla="val 50000"/>
            </a:avLst>
          </a:prstGeom>
          <a:solidFill>
            <a:srgbClr val="0E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749039" y="4023360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0E7D5E"/>
                </a:solidFill>
                <a:latin typeface="Calibri"/>
              </a:rPr>
              <a:t>APPROVE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7200" y="4297680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2B3448"/>
                </a:solidFill>
                <a:latin typeface="Calibri"/>
              </a:rPr>
              <a:t>Kirana Bazaar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743200" y="429768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1" i="0">
                <a:solidFill>
                  <a:srgbClr val="1B2233"/>
                </a:solidFill>
                <a:latin typeface="Consolas"/>
              </a:rPr>
              <a:t>699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383280" y="4325112"/>
            <a:ext cx="320040" cy="182880"/>
          </a:xfrm>
          <a:prstGeom prst="roundRect">
            <a:avLst>
              <a:gd name="adj" fmla="val 50000"/>
            </a:avLst>
          </a:prstGeom>
          <a:solidFill>
            <a:srgbClr val="0E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749039" y="4297680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0E7D5E"/>
                </a:solidFill>
                <a:latin typeface="Calibri"/>
              </a:rPr>
              <a:t>APPROVE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57200" y="4572000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 i="0">
                <a:solidFill>
                  <a:srgbClr val="2B3448"/>
                </a:solidFill>
                <a:latin typeface="Calibri"/>
              </a:rPr>
              <a:t>Kumar Enterprises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743200" y="45720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100" b="1" i="0">
                <a:solidFill>
                  <a:srgbClr val="1B2233"/>
                </a:solidFill>
                <a:latin typeface="Consolas"/>
              </a:rPr>
              <a:t>363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383280" y="4599432"/>
            <a:ext cx="320040" cy="1828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749039" y="4572000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 i="0">
                <a:solidFill>
                  <a:srgbClr val="EF4444"/>
                </a:solidFill>
                <a:latin typeface="Calibri"/>
              </a:rPr>
              <a:t>DECLINE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846320" y="2971800"/>
            <a:ext cx="402336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029200" y="3063240"/>
            <a:ext cx="365760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2233"/>
                </a:solidFill>
                <a:latin typeface="Calibri"/>
              </a:rPr>
              <a:t>Model + reproducibility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00" b="1" i="0">
                <a:solidFill>
                  <a:srgbClr val="046046"/>
                </a:solidFill>
                <a:latin typeface="Calibri"/>
              </a:rPr>
              <a:t>✓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18-feature vector, canonical order pinned in code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00" b="1" i="0">
                <a:solidFill>
                  <a:srgbClr val="046046"/>
                </a:solidFill>
                <a:latin typeface="Calibri"/>
              </a:rPr>
              <a:t>✓  80/20 hold-out AUC 0.89 + Brier 0.115 on every card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00" b="1" i="0">
                <a:solidFill>
                  <a:srgbClr val="046046"/>
                </a:solidFill>
                <a:latin typeface="Calibri"/>
              </a:rPr>
              <a:t>✓  Platt-calibrated PDs · monotonic constraints, all 18 features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00" b="1" i="0">
                <a:solidFill>
                  <a:srgbClr val="046046"/>
                </a:solidFill>
                <a:latin typeface="Calibri"/>
              </a:rPr>
              <a:t>✓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Local counterfactual explainer — top-3 up / down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00" b="1" i="0">
                <a:solidFill>
                  <a:srgbClr val="046046"/>
                </a:solidFill>
                <a:latin typeface="Calibri"/>
              </a:rPr>
              <a:t>✓  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>Same GSTIN → same score (GSTIN-seeded RNGs)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00" b="1" i="0">
                <a:solidFill>
                  <a:srgbClr val="046046"/>
                </a:solidFill>
                <a:latin typeface="Calibri"/>
              </a:rPr>
              <a:t>✓  Model persisted by version hash — warm boots load in 0.3 s</a:t>
            </a:r>
            <a:r>
              <a:rPr sz="1000" b="0" i="0">
                <a:solidFill>
                  <a:srgbClr val="2B344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Additional Details/Future Development (if any)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Rounded Rectangle 132"/>
          <p:cNvSpPr/>
          <p:nvPr/>
        </p:nvSpPr>
        <p:spPr>
          <a:xfrm>
            <a:off x="274320" y="1463040"/>
            <a:ext cx="2773680" cy="16687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11480" y="1600200"/>
            <a:ext cx="292608" cy="292608"/>
          </a:xfrm>
          <a:prstGeom prst="ellipse">
            <a:avLst/>
          </a:prstGeom>
          <a:solidFill>
            <a:srgbClr val="046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77240" y="1554480"/>
            <a:ext cx="2133600" cy="14859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B2233"/>
                </a:solidFill>
                <a:latin typeface="Calibri"/>
              </a:rPr>
              <a:t>Real rails integration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2B3448"/>
                </a:solidFill>
                <a:latin typeface="Calibri"/>
              </a:rPr>
              <a:t>Move behind live GSTN Suvidha Provider, RBI-regulated Account Aggregator, EPFO + NPCI feeds. Protocol seams already there.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185160" y="1463040"/>
            <a:ext cx="2773680" cy="16687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322320" y="1600200"/>
            <a:ext cx="292608" cy="292608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688080" y="1554480"/>
            <a:ext cx="2133600" cy="14859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B2233"/>
                </a:solidFill>
                <a:latin typeface="Calibri"/>
              </a:rPr>
              <a:t>Bureau-if-available adapter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2B3448"/>
                </a:solidFill>
                <a:latin typeface="Calibri"/>
              </a:rPr>
              <a:t>Stub already built — NTC shows “no bureau file” on the card. Production adapter layers a real file in without displacing alternate signals.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096000" y="1463040"/>
            <a:ext cx="2773680" cy="16687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233160" y="1600200"/>
            <a:ext cx="292608" cy="292608"/>
          </a:xfrm>
          <a:prstGeom prst="ellipse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598920" y="1554480"/>
            <a:ext cx="2133600" cy="14859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B2233"/>
                </a:solidFill>
                <a:latin typeface="Calibri"/>
              </a:rPr>
              <a:t>ITR + Udyam verify + utility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2B3448"/>
                </a:solidFill>
                <a:latin typeface="Calibri"/>
              </a:rPr>
              <a:t>Add ITR as a 5th source and Udyam KYC / utility payment feeds for the ‘etc.’ in the problem statement.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74320" y="3268980"/>
            <a:ext cx="2773680" cy="16687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11480" y="3406140"/>
            <a:ext cx="292608" cy="292608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77240" y="3360420"/>
            <a:ext cx="2133600" cy="14859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B2233"/>
                </a:solidFill>
                <a:latin typeface="Calibri"/>
              </a:rPr>
              <a:t>Portfolio monitoring service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2B3448"/>
                </a:solidFill>
                <a:latin typeface="Calibri"/>
              </a:rPr>
              <a:t>Continuous scoring on live pulls — daily deltas + drift alerts on top of the stress tests and watch-list actions already built.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185160" y="3268980"/>
            <a:ext cx="2773680" cy="16687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322320" y="3406140"/>
            <a:ext cx="292608" cy="292608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688080" y="3360420"/>
            <a:ext cx="2133600" cy="14859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B2233"/>
                </a:solidFill>
                <a:latin typeface="Calibri"/>
              </a:rPr>
              <a:t>Model ops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2B3448"/>
                </a:solidFill>
                <a:latin typeface="Calibri"/>
              </a:rPr>
              <a:t>Retrain on real default outcomes as they arrive · monitor calibration drift · A/B challenger scorecards · fairness audits.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096000" y="3268980"/>
            <a:ext cx="2773680" cy="16687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C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233160" y="3406140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598920" y="3360420"/>
            <a:ext cx="2133600" cy="14859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B2233"/>
                </a:solidFill>
                <a:latin typeface="Calibri"/>
              </a:rPr>
              <a:t>Borrower-side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2B3448"/>
                </a:solidFill>
                <a:latin typeface="Calibri"/>
              </a:rPr>
              <a:t>Vernacular UI · WhatsApp status updates · improvement tracker so an MSME sees exactly how each action moved the score.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265350" y="744575"/>
            <a:ext cx="8943000" cy="1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sz="2000" b="1" i="0">
                <a:solidFill>
                  <a:srgbClr val="1B2233"/>
                </a:solidFill>
                <a:latin typeface="Calibri"/>
              </a:rPr>
              <a:t>Provide links to your:</a:t>
            </a:r>
            <a:endParaRPr b="1"/>
          </a:p>
          <a:p>
            <a:pPr algn="l">
              <a:spcBef>
                <a:spcPts val="1200"/>
              </a:spcBef>
            </a:pPr>
            <a:r>
              <a:rPr sz="1400" b="1" i="0">
                <a:solidFill>
                  <a:srgbClr val="046046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2B3448"/>
                </a:solidFill>
                <a:latin typeface="Calibri"/>
              </a:rPr>
              <a:t>GitHub Public Repository — </a:t>
            </a:r>
            <a:r>
              <a:rPr sz="1300" b="0" i="0">
                <a:solidFill>
                  <a:srgbClr val="046046"/>
                </a:solidFill>
                <a:latin typeface="Calibri"/>
              </a:rPr>
              <a:t>https://github.com/Arya-126/idbi</a:t>
            </a:r>
          </a:p>
          <a:p>
            <a:pPr algn="l">
              <a:spcBef>
                <a:spcPts val="1200"/>
              </a:spcBef>
            </a:pPr>
            <a:r>
              <a:rPr sz="1400" b="1" i="0">
                <a:solidFill>
                  <a:srgbClr val="046046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2B3448"/>
                </a:solidFill>
                <a:latin typeface="Calibri"/>
              </a:rPr>
              <a:t>Demo Video Link (3 Minutes) — </a:t>
            </a:r>
            <a:r>
              <a:rPr sz="1300" b="0" i="0">
                <a:solidFill>
                  <a:srgbClr val="046046"/>
                </a:solidFill>
                <a:latin typeface="Calibri"/>
              </a:rPr>
              <a:t>https://drive.google.com/... (to be added by team)</a:t>
            </a:r>
          </a:p>
          <a:p>
            <a:pPr algn="l">
              <a:spcBef>
                <a:spcPts val="1200"/>
              </a:spcBef>
            </a:pPr>
            <a:r>
              <a:rPr sz="1400" b="1" i="0">
                <a:solidFill>
                  <a:srgbClr val="046046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2B3448"/>
                </a:solidFill>
                <a:latin typeface="Calibri"/>
              </a:rPr>
              <a:t>Final Product Link — </a:t>
            </a:r>
            <a:r>
              <a:rPr sz="1300" b="0" i="0">
                <a:solidFill>
                  <a:srgbClr val="046046"/>
                </a:solidFill>
                <a:latin typeface="Calibri"/>
              </a:rPr>
              <a:t>https://msme-frontend-kahy.onrender.com  ·  backend: https://msme-backend-un24.onrender.com/docs</a:t>
            </a:r>
          </a:p>
        </p:txBody>
      </p:sp>
      <p:pic>
        <p:nvPicPr>
          <p:cNvPr id="138" name="Google Shape;138;p2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 title="IDBI banner deck 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